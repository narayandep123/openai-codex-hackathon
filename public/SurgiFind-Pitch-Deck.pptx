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6858000"/>
          </a:xfrm>
          <a:prstGeom prst="roundRect">
            <a:avLst/>
          </a:prstGeom>
          <a:solidFill>
            <a:srgbClr val="0A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-548640"/>
            <a:ext cx="5120640" cy="3657600"/>
          </a:xfrm>
          <a:prstGeom prst="ellipse">
            <a:avLst/>
          </a:prstGeom>
          <a:solidFill>
            <a:srgbClr val="115E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235440" y="4297680"/>
            <a:ext cx="3017520" cy="2286000"/>
          </a:xfrm>
          <a:prstGeom prst="ellipse">
            <a:avLst/>
          </a:prstGeom>
          <a:solidFill>
            <a:srgbClr val="082F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384048"/>
            <a:ext cx="1874519" cy="457200"/>
          </a:xfrm>
          <a:prstGeom prst="roundRect">
            <a:avLst/>
          </a:prstGeom>
          <a:solidFill>
            <a:srgbClr val="122D42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93776"/>
            <a:ext cx="1554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99F6E4"/>
                </a:solidFill>
                <a:latin typeface="Aptos"/>
              </a:rPr>
              <a:t>HACKATHON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57607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ptos"/>
              </a:rPr>
              <a:t>SurgiFind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685800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ptos"/>
              </a:rPr>
              <a:t>From surgical uncertainty to hospital booking in one guided flow.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154680"/>
            <a:ext cx="50292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Aptos"/>
              </a:rPr>
              <a:t>Search. Compare price. Check insurance. Book with confidence.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892040"/>
            <a:ext cx="20116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5102352"/>
            <a:ext cx="16459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Aptos"/>
              </a:rPr>
              <a:t>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5422392"/>
            <a:ext cx="169164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Aptos"/>
              </a:rPr>
              <a:t>Surgery, city, budget, rating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98648" y="4892040"/>
            <a:ext cx="20116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5808" y="5102352"/>
            <a:ext cx="16459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Aptos"/>
              </a:rPr>
              <a:t>Trust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5808" y="5422392"/>
            <a:ext cx="169164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Aptos"/>
              </a:rPr>
              <a:t>Price and insurance clarity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38928" y="4892040"/>
            <a:ext cx="20116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76088" y="5102352"/>
            <a:ext cx="16459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Aptos"/>
              </a:rPr>
              <a:t>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6088" y="5422392"/>
            <a:ext cx="169164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Aptos"/>
              </a:rPr>
              <a:t>Authenticated booking and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3720" y="1234440"/>
            <a:ext cx="4526280" cy="4526280"/>
          </a:xfrm>
          <a:prstGeom prst="roundRect">
            <a:avLst/>
          </a:prstGeom>
          <a:solidFill>
            <a:srgbClr val="F8FAFC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645920"/>
            <a:ext cx="37033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0D746F"/>
                </a:solidFill>
                <a:latin typeface="Aptos"/>
              </a:rPr>
              <a:t>Why this matters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057400"/>
            <a:ext cx="3566160" cy="1965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Aptos"/>
              </a:rPr>
              <a:t>A patient trying to book surgery today jumps across hospital sites, price ambiguity, insurance confusion, and manual calls. SurgiFind compresses that chaos into one decision flow.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343400"/>
            <a:ext cx="338328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Aptos"/>
              </a:rPr>
              <a:t>Built as a working full-stack prototype with AI-assisted discovery, secure booking, and a production-ready path forward.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21240" y="5870448"/>
            <a:ext cx="960120" cy="384048"/>
          </a:xfrm>
          <a:prstGeom prst="roundRect">
            <a:avLst/>
          </a:prstGeom>
          <a:solidFill>
            <a:srgbClr val="05ABA5"/>
          </a:solidFill>
          <a:ln>
            <a:solidFill>
              <a:srgbClr val="05A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21240" y="5897880"/>
            <a:ext cx="9601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1874519" cy="457200"/>
          </a:xfrm>
          <a:prstGeom prst="roundRect">
            <a:avLst/>
          </a:prstGeom>
          <a:solidFill>
            <a:srgbClr val="ECFEFF"/>
          </a:solidFill>
          <a:ln>
            <a:solidFill>
              <a:srgbClr val="A5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1554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0D746F"/>
                </a:solidFill>
                <a:latin typeface="Aptos"/>
              </a:rPr>
              <a:t>THE PAIN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94360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Aptos"/>
              </a:rPr>
              <a:t>Patients do not need more hospital tabs. They need a decision path.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4572000" cy="4251960"/>
          </a:xfrm>
          <a:prstGeom prst="roundRect">
            <a:avLst/>
          </a:prstGeom>
          <a:solidFill>
            <a:srgbClr val="ECFEFF"/>
          </a:solidFill>
          <a:ln>
            <a:solidFill>
              <a:srgbClr val="A5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0D746F"/>
                </a:solidFill>
                <a:latin typeface="Aptos"/>
              </a:rPr>
              <a:t>Real-world moment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60320"/>
            <a:ext cx="3749039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  <a:latin typeface="Aptos"/>
              </a:rPr>
              <a:t>A family knows the surgery type, but not which hospital is trustworthy, affordable, in-network, or even bookable today.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251960"/>
            <a:ext cx="365760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Aptos"/>
              </a:rPr>
              <a:t>What follows is fragmented research, hidden pricing, insurance guesswork, and repeated manual calls before any real progress happens.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3560" y="1828800"/>
            <a:ext cx="5486400" cy="117043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806440" y="2011680"/>
            <a:ext cx="164592" cy="80467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011680"/>
            <a:ext cx="20116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700" b="1" i="0">
                <a:solidFill>
                  <a:srgbClr val="0F172A"/>
                </a:solidFill>
                <a:latin typeface="Aptos"/>
              </a:rPr>
              <a:t>Opaque pricing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331720"/>
            <a:ext cx="4480560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Aptos"/>
              </a:rPr>
              <a:t>Patients cannot compare likely surgery costs with confidence.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3218688"/>
            <a:ext cx="5486400" cy="117043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06440" y="3401568"/>
            <a:ext cx="164592" cy="804672"/>
          </a:xfrm>
          <a:prstGeom prst="roundRect">
            <a:avLst/>
          </a:prstGeom>
          <a:solidFill>
            <a:srgbClr val="F43F5E"/>
          </a:solidFill>
          <a:ln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401568"/>
            <a:ext cx="20116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700" b="1" i="0">
                <a:solidFill>
                  <a:srgbClr val="0F172A"/>
                </a:solidFill>
                <a:latin typeface="Aptos"/>
              </a:rPr>
              <a:t>Insurance friction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3721608"/>
            <a:ext cx="4480560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Aptos"/>
              </a:rPr>
              <a:t>Network and coverage checks take too long and break decision flow.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608576"/>
            <a:ext cx="5486400" cy="117043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06440" y="4791456"/>
            <a:ext cx="164592" cy="804672"/>
          </a:xfrm>
          <a:prstGeom prst="roundRect">
            <a:avLst/>
          </a:prstGeom>
          <a:solidFill>
            <a:srgbClr val="05ABA5"/>
          </a:solidFill>
          <a:ln>
            <a:solidFill>
              <a:srgbClr val="05A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4791456"/>
            <a:ext cx="20116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700" b="1" i="0">
                <a:solidFill>
                  <a:srgbClr val="0F172A"/>
                </a:solidFill>
                <a:latin typeface="Aptos"/>
              </a:rPr>
              <a:t>No clean booking 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5111496"/>
            <a:ext cx="4480560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Aptos"/>
              </a:rPr>
              <a:t>Discovery and booking are disconnected, so conversion stalls.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789920" y="502920"/>
            <a:ext cx="868680" cy="384048"/>
          </a:xfrm>
          <a:prstGeom prst="roundRect">
            <a:avLst/>
          </a:prstGeom>
          <a:solidFill>
            <a:srgbClr val="05ABA5"/>
          </a:solidFill>
          <a:ln>
            <a:solidFill>
              <a:srgbClr val="05A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89920" y="530352"/>
            <a:ext cx="8686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1874519" cy="457200"/>
          </a:xfrm>
          <a:prstGeom prst="roundRect">
            <a:avLst/>
          </a:prstGeom>
          <a:solidFill>
            <a:srgbClr val="ECFEFF"/>
          </a:solidFill>
          <a:ln>
            <a:solidFill>
              <a:srgbClr val="A5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1554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0D746F"/>
                </a:solidFill>
                <a:latin typeface="Aptos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48640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Aptos"/>
              </a:rPr>
              <a:t>SurgiFind turns surgery discovery into one connected workflow.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30352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Aptos"/>
              </a:rPr>
              <a:t>Instead of asking patients to stitch together research, cost checks, insurance lookup, and booking, we orchestrate it in one place.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31720"/>
            <a:ext cx="4754880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651760"/>
            <a:ext cx="4114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0D746F"/>
                </a:solidFill>
                <a:latin typeface="Aptos"/>
              </a:rPr>
              <a:t>The wedge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017520"/>
            <a:ext cx="3977639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  <a:latin typeface="Aptos"/>
              </a:rPr>
              <a:t>Search + transparency + booking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977639"/>
            <a:ext cx="3840480" cy="1554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rPr>
                <a:solidFill>
                  <a:srgbClr val="0F172A"/>
                </a:solidFill>
              </a:rPr>
              <a:t>Hospital and surgery search with filters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rPr>
                <a:solidFill>
                  <a:srgbClr val="0F172A"/>
                </a:solidFill>
              </a:rPr>
              <a:t>Price and insurance context before action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rPr>
                <a:solidFill>
                  <a:srgbClr val="0F172A"/>
                </a:solidFill>
              </a:rPr>
              <a:t>Chat guidance for natural-language discovery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rPr>
                <a:solidFill>
                  <a:srgbClr val="0F172A"/>
                </a:solidFill>
              </a:rPr>
              <a:t>Authenticated booking and booking history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06440" y="2606040"/>
            <a:ext cx="13258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17336" y="2816352"/>
            <a:ext cx="713232" cy="384048"/>
          </a:xfrm>
          <a:prstGeom prst="roundRect">
            <a:avLst/>
          </a:prstGeom>
          <a:solidFill>
            <a:srgbClr val="05ABA5"/>
          </a:solidFill>
          <a:ln>
            <a:solidFill>
              <a:srgbClr val="05A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17336" y="2843784"/>
            <a:ext cx="71323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71031" y="3456432"/>
            <a:ext cx="960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 i="0">
                <a:solidFill>
                  <a:srgbClr val="0F172A"/>
                </a:solidFill>
                <a:latin typeface="Aptos"/>
              </a:rPr>
              <a:t>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6168" y="3886200"/>
            <a:ext cx="1078992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0" i="0">
                <a:solidFill>
                  <a:srgbClr val="475569"/>
                </a:solidFill>
                <a:latin typeface="Aptos"/>
              </a:rPr>
              <a:t>Surgery, city, budget, rating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3675887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i="0">
                <a:solidFill>
                  <a:srgbClr val="0D746F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2606040"/>
            <a:ext cx="13258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98664" y="2816352"/>
            <a:ext cx="713232" cy="384048"/>
          </a:xfrm>
          <a:prstGeom prst="roundRect">
            <a:avLst/>
          </a:prstGeom>
          <a:solidFill>
            <a:srgbClr val="05ABA5"/>
          </a:solidFill>
          <a:ln>
            <a:solidFill>
              <a:srgbClr val="05A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98664" y="2843784"/>
            <a:ext cx="71323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3456432"/>
            <a:ext cx="960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 i="0">
                <a:solidFill>
                  <a:srgbClr val="0F172A"/>
                </a:solidFill>
                <a:latin typeface="Aptos"/>
              </a:rPr>
              <a:t>Compare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7496" y="3886200"/>
            <a:ext cx="1078992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0" i="0">
                <a:solidFill>
                  <a:srgbClr val="475569"/>
                </a:solidFill>
                <a:latin typeface="Aptos"/>
              </a:rPr>
              <a:t>Hospital options and price ranges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3675887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i="0">
                <a:solidFill>
                  <a:srgbClr val="0D746F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69096" y="2606040"/>
            <a:ext cx="13258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79992" y="2816352"/>
            <a:ext cx="713232" cy="384048"/>
          </a:xfrm>
          <a:prstGeom prst="roundRect">
            <a:avLst/>
          </a:prstGeom>
          <a:solidFill>
            <a:srgbClr val="05ABA5"/>
          </a:solidFill>
          <a:ln>
            <a:solidFill>
              <a:srgbClr val="05A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9992" y="2843784"/>
            <a:ext cx="71323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33688" y="3456432"/>
            <a:ext cx="960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 i="0">
                <a:solidFill>
                  <a:srgbClr val="0F172A"/>
                </a:solidFill>
                <a:latin typeface="Aptos"/>
              </a:rPr>
              <a:t>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78824" y="3886200"/>
            <a:ext cx="1078992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0" i="0">
                <a:solidFill>
                  <a:srgbClr val="475569"/>
                </a:solidFill>
                <a:latin typeface="Aptos"/>
              </a:rPr>
              <a:t>Chat assistant for guided discovery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22408" y="3675887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i="0">
                <a:solidFill>
                  <a:srgbClr val="0D746F"/>
                </a:solidFill>
                <a:latin typeface="Aptos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50424" y="2606040"/>
            <a:ext cx="13258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561320" y="2816352"/>
            <a:ext cx="713232" cy="384048"/>
          </a:xfrm>
          <a:prstGeom prst="roundRect">
            <a:avLst/>
          </a:prstGeom>
          <a:solidFill>
            <a:srgbClr val="05ABA5"/>
          </a:solidFill>
          <a:ln>
            <a:solidFill>
              <a:srgbClr val="05A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61320" y="2843784"/>
            <a:ext cx="71323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15016" y="3456432"/>
            <a:ext cx="960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 i="0">
                <a:solidFill>
                  <a:srgbClr val="0F172A"/>
                </a:solidFill>
                <a:latin typeface="Aptos"/>
              </a:rPr>
              <a:t>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60152" y="3886200"/>
            <a:ext cx="1078992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0" i="0">
                <a:solidFill>
                  <a:srgbClr val="475569"/>
                </a:solidFill>
                <a:latin typeface="Aptos"/>
              </a:rPr>
              <a:t>Reserve a consultation or surgery slot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789920" y="502920"/>
            <a:ext cx="868680" cy="384048"/>
          </a:xfrm>
          <a:prstGeom prst="roundRect">
            <a:avLst/>
          </a:prstGeom>
          <a:solidFill>
            <a:srgbClr val="05ABA5"/>
          </a:solidFill>
          <a:ln>
            <a:solidFill>
              <a:srgbClr val="05A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20" y="530352"/>
            <a:ext cx="8686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1874519" cy="457200"/>
          </a:xfrm>
          <a:prstGeom prst="roundRect">
            <a:avLst/>
          </a:prstGeom>
          <a:solidFill>
            <a:srgbClr val="122D42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1554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99F6E4"/>
                </a:solidFill>
                <a:latin typeface="Aptos"/>
              </a:rPr>
              <a:t>LIVE DEMO ARC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94360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ptos"/>
              </a:rPr>
              <a:t>What judges will see in under two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66928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  <a:latin typeface="Aptos"/>
              </a:rPr>
              <a:t>A clean flow beats feature overload. The story is discovery to action.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23160"/>
            <a:ext cx="2651760" cy="2606040"/>
          </a:xfrm>
          <a:prstGeom prst="roundRect">
            <a:avLst/>
          </a:prstGeom>
          <a:solidFill>
            <a:srgbClr val="0F2236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6112" y="2651760"/>
            <a:ext cx="5486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79191"/>
            <a:ext cx="5486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0D746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5468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ptos"/>
              </a:rPr>
              <a:t>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611880"/>
            <a:ext cx="2148840" cy="868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Aptos"/>
              </a:rPr>
              <a:t>Find surgery options by city, budget, and rating.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3502152"/>
            <a:ext cx="2743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i="0">
                <a:solidFill>
                  <a:srgbClr val="5EEAD4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2423160"/>
            <a:ext cx="2651760" cy="2606040"/>
          </a:xfrm>
          <a:prstGeom prst="roundRect">
            <a:avLst/>
          </a:prstGeom>
          <a:solidFill>
            <a:srgbClr val="0F2236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76472" y="2651760"/>
            <a:ext cx="5486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6472" y="2679191"/>
            <a:ext cx="5486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0D746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6472" y="315468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ptos"/>
              </a:rPr>
              <a:t>Hospital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6472" y="3611880"/>
            <a:ext cx="2148840" cy="868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Aptos"/>
              </a:rPr>
              <a:t>Open detail page and show pricing + slot context.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502152"/>
            <a:ext cx="2743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i="0">
                <a:solidFill>
                  <a:srgbClr val="5EEAD4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2423160"/>
            <a:ext cx="2651760" cy="2606040"/>
          </a:xfrm>
          <a:prstGeom prst="roundRect">
            <a:avLst/>
          </a:prstGeom>
          <a:solidFill>
            <a:srgbClr val="0F2236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656831" y="2651760"/>
            <a:ext cx="5486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1" y="2679191"/>
            <a:ext cx="5486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0D746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6831" y="315468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ptos"/>
              </a:rPr>
              <a:t>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831" y="3611880"/>
            <a:ext cx="2148840" cy="868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Aptos"/>
              </a:rPr>
              <a:t>Ask in plain language and get guided matches.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7152" y="3502152"/>
            <a:ext cx="2743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i="0">
                <a:solidFill>
                  <a:srgbClr val="5EEAD4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72600" y="2423160"/>
            <a:ext cx="2651760" cy="2606040"/>
          </a:xfrm>
          <a:prstGeom prst="roundRect">
            <a:avLst/>
          </a:prstGeom>
          <a:solidFill>
            <a:srgbClr val="0F2236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537192" y="2651760"/>
            <a:ext cx="5486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37192" y="2679191"/>
            <a:ext cx="5486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0D746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7192" y="315468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ptos"/>
              </a:rPr>
              <a:t>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37192" y="3611880"/>
            <a:ext cx="2148840" cy="868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Aptos"/>
              </a:rPr>
              <a:t>Confirm a slot, then show booking history and cancellation.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9808" y="5394960"/>
            <a:ext cx="10652760" cy="822960"/>
          </a:xfrm>
          <a:prstGeom prst="roundRect">
            <a:avLst/>
          </a:prstGeom>
          <a:solidFill>
            <a:srgbClr val="091D2E"/>
          </a:solidFill>
          <a:ln>
            <a:solidFill>
              <a:srgbClr val="164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5641848"/>
            <a:ext cx="996696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"/>
              </a:rPr>
              <a:t>Key message: we are not showing isolated pages; we are showing a patient journey that reaches a real booking outcome.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789920" y="502920"/>
            <a:ext cx="868680" cy="384048"/>
          </a:xfrm>
          <a:prstGeom prst="roundRect">
            <a:avLst/>
          </a:prstGeom>
          <a:solidFill>
            <a:srgbClr val="5EEAD4"/>
          </a:solidFill>
          <a:ln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89920" y="530352"/>
            <a:ext cx="8686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1874519" cy="457200"/>
          </a:xfrm>
          <a:prstGeom prst="roundRect">
            <a:avLst/>
          </a:prstGeom>
          <a:solidFill>
            <a:srgbClr val="ECFEFF"/>
          </a:solidFill>
          <a:ln>
            <a:solidFill>
              <a:srgbClr val="A5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1554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0D746F"/>
                </a:solidFill>
                <a:latin typeface="Aptos"/>
              </a:rPr>
              <a:t>WHY THIS CAN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66928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Aptos"/>
              </a:rPr>
              <a:t>Most tools stop at discovery. SurgiFind continues to decision and action.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965960"/>
            <a:ext cx="3520440" cy="2971800"/>
          </a:xfrm>
          <a:prstGeom prst="roundRect">
            <a:avLst/>
          </a:prstGeom>
          <a:solidFill>
            <a:srgbClr val="ECFE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258568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Aptos"/>
              </a:rPr>
              <a:t>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743200"/>
            <a:ext cx="283464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Aptos"/>
              </a:rPr>
              <a:t>Search hospitals by surgery, city, budget, rating, and type.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7136" y="1965960"/>
            <a:ext cx="3520440" cy="2971800"/>
          </a:xfrm>
          <a:prstGeom prst="roundRect">
            <a:avLst/>
          </a:prstGeom>
          <a:solidFill>
            <a:srgbClr val="ECFDF5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18304" y="2258568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Aptos"/>
              </a:rPr>
              <a:t>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18304" y="2743200"/>
            <a:ext cx="283464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Aptos"/>
              </a:rPr>
              <a:t>Give price clarity, insurance relevance, and conversational support.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84464" y="1965960"/>
            <a:ext cx="3520440" cy="2971800"/>
          </a:xfrm>
          <a:prstGeom prst="roundRect">
            <a:avLst/>
          </a:prstGeom>
          <a:solidFill>
            <a:srgbClr val="FFF7ED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2258568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Aptos"/>
              </a:rPr>
              <a:t>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2743200"/>
            <a:ext cx="283464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Aptos"/>
              </a:rPr>
              <a:t>Convert intent into secure booking, history, and cancellation.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5257800"/>
            <a:ext cx="10972800" cy="8229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513832"/>
            <a:ext cx="10287000" cy="210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This is a workflow product, not just an information product. That is the core differentiator.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789920" y="502920"/>
            <a:ext cx="868680" cy="384048"/>
          </a:xfrm>
          <a:prstGeom prst="roundRect">
            <a:avLst/>
          </a:prstGeom>
          <a:solidFill>
            <a:srgbClr val="05ABA5"/>
          </a:solidFill>
          <a:ln>
            <a:solidFill>
              <a:srgbClr val="05A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0" y="530352"/>
            <a:ext cx="8686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1874519" cy="457200"/>
          </a:xfrm>
          <a:prstGeom prst="roundRect">
            <a:avLst/>
          </a:prstGeom>
          <a:solidFill>
            <a:srgbClr val="ECFEFF"/>
          </a:solidFill>
          <a:ln>
            <a:solidFill>
              <a:srgbClr val="A5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1554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0D746F"/>
                </a:solidFill>
                <a:latin typeface="Aptos"/>
              </a:rPr>
              <a:t>VALUE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02920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Aptos"/>
              </a:rPr>
              <a:t>Why this is bigger than a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9377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Aptos"/>
              </a:rPr>
              <a:t>SurgiFind creates value for the three parties that matter in planned care.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2377440"/>
            <a:ext cx="352958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97480"/>
            <a:ext cx="22860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Aptos"/>
              </a:rPr>
              <a:t>Patients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2926080" cy="1737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rPr>
                <a:solidFill>
                  <a:srgbClr val="0F172A"/>
                </a:solidFill>
              </a:rPr>
              <a:t>Less confusion before surgery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rPr>
                <a:solidFill>
                  <a:srgbClr val="0F172A"/>
                </a:solidFill>
              </a:rPr>
              <a:t>Faster shortlist creation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rPr>
                <a:solidFill>
                  <a:srgbClr val="0F172A"/>
                </a:solidFill>
              </a:rPr>
              <a:t>Clarity on cost and booking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377440"/>
            <a:ext cx="352958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0016" y="2697480"/>
            <a:ext cx="22860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Aptos"/>
              </a:rPr>
              <a:t>Hospitals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3154680"/>
            <a:ext cx="2926080" cy="1737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rPr>
                <a:solidFill>
                  <a:srgbClr val="0F172A"/>
                </a:solidFill>
              </a:rPr>
              <a:t>Qualified high-intent leads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rPr>
                <a:solidFill>
                  <a:srgbClr val="0F172A"/>
                </a:solidFill>
              </a:rPr>
              <a:t>Better booking conversion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rPr>
                <a:solidFill>
                  <a:srgbClr val="0F172A"/>
                </a:solidFill>
              </a:rPr>
              <a:t>Lower manual follow-up 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11312" y="2377440"/>
            <a:ext cx="3529584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0768" y="2697480"/>
            <a:ext cx="22860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Aptos"/>
              </a:rPr>
              <a:t>Partners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4" y="3154680"/>
            <a:ext cx="2926080" cy="1737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rPr>
                <a:solidFill>
                  <a:srgbClr val="0F172A"/>
                </a:solidFill>
              </a:rPr>
              <a:t>Insurance relevance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rPr>
                <a:solidFill>
                  <a:srgbClr val="0F172A"/>
                </a:solidFill>
              </a:rPr>
              <a:t>Future referral workflows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rPr>
                <a:solidFill>
                  <a:srgbClr val="0F172A"/>
                </a:solidFill>
              </a:rPr>
              <a:t>Operational integration potential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" y="5486400"/>
            <a:ext cx="10972800" cy="566928"/>
          </a:xfrm>
          <a:prstGeom prst="roundRect">
            <a:avLst/>
          </a:prstGeom>
          <a:solidFill>
            <a:srgbClr val="ECFEFF"/>
          </a:solidFill>
          <a:ln>
            <a:solidFill>
              <a:srgbClr val="A5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650992"/>
            <a:ext cx="1033272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0D746F"/>
                </a:solidFill>
                <a:latin typeface="Aptos"/>
              </a:rPr>
              <a:t>Revenue paths: lead generation, premium listings, booking commissions, and care navigation partnerships.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789920" y="502920"/>
            <a:ext cx="868680" cy="384048"/>
          </a:xfrm>
          <a:prstGeom prst="roundRect">
            <a:avLst/>
          </a:prstGeom>
          <a:solidFill>
            <a:srgbClr val="05ABA5"/>
          </a:solidFill>
          <a:ln>
            <a:solidFill>
              <a:srgbClr val="05A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0" y="530352"/>
            <a:ext cx="8686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1874519" cy="457200"/>
          </a:xfrm>
          <a:prstGeom prst="roundRect">
            <a:avLst/>
          </a:prstGeom>
          <a:solidFill>
            <a:srgbClr val="122D42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1554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99F6E4"/>
                </a:solidFill>
                <a:latin typeface="Aptos"/>
              </a:rPr>
              <a:t>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66928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ptos"/>
              </a:rPr>
              <a:t>We know exactly what comes after the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3035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  <a:latin typeface="Aptos"/>
              </a:rPr>
              <a:t>The path forward is payments, production cloud operations, and stronger platform controls.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2240280"/>
            <a:ext cx="2578608" cy="1600200"/>
          </a:xfrm>
          <a:prstGeom prst="roundRect">
            <a:avLst/>
          </a:prstGeom>
          <a:solidFill>
            <a:srgbClr val="0F2236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Payments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201168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Aptos"/>
              </a:rPr>
              <a:t>Deposits, confirmations, refunds, receipts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38727" y="2240280"/>
            <a:ext cx="2578608" cy="1600200"/>
          </a:xfrm>
          <a:prstGeom prst="roundRect">
            <a:avLst/>
          </a:prstGeom>
          <a:solidFill>
            <a:srgbClr val="0F2236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542032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Cloud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971800"/>
            <a:ext cx="201168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Aptos"/>
              </a:rPr>
              <a:t>Vercel deployment, CI/CD, managed secrets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7648" y="2240280"/>
            <a:ext cx="2578608" cy="1600200"/>
          </a:xfrm>
          <a:prstGeom prst="roundRect">
            <a:avLst/>
          </a:prstGeom>
          <a:solidFill>
            <a:srgbClr val="0F2236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542032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971800"/>
            <a:ext cx="201168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Aptos"/>
              </a:rPr>
              <a:t>Rate limiting, WAF, audit logging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16567" y="2240280"/>
            <a:ext cx="2578608" cy="1600200"/>
          </a:xfrm>
          <a:prstGeom prst="roundRect">
            <a:avLst/>
          </a:prstGeom>
          <a:solidFill>
            <a:srgbClr val="0F2236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59" y="2542032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59" y="2971800"/>
            <a:ext cx="201168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Aptos"/>
              </a:rPr>
              <a:t>Cache, queue, autoscaling, observability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4297680"/>
            <a:ext cx="109728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681728"/>
            <a:ext cx="155448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882896"/>
            <a:ext cx="1463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Aptos"/>
              </a:rPr>
              <a:t>Users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71800" y="4681728"/>
            <a:ext cx="1554480" cy="731520"/>
          </a:xfrm>
          <a:prstGeom prst="roundRect">
            <a:avLst/>
          </a:prstGeom>
          <a:solidFill>
            <a:srgbClr val="ECFDF5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17520" y="4882896"/>
            <a:ext cx="1463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Aptos"/>
              </a:rPr>
              <a:t>Edge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0" y="4681728"/>
            <a:ext cx="155448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83480" y="4882896"/>
            <a:ext cx="1463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Aptos"/>
              </a:rPr>
              <a:t>App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3720" y="4681728"/>
            <a:ext cx="1554480" cy="731520"/>
          </a:xfrm>
          <a:prstGeom prst="roundRect">
            <a:avLst/>
          </a:prstGeom>
          <a:solidFill>
            <a:srgbClr val="ECFDF5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4882896"/>
            <a:ext cx="1463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Aptos"/>
              </a:rPr>
              <a:t>Platform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9680" y="4681728"/>
            <a:ext cx="155448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15400" y="4882896"/>
            <a:ext cx="1463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Aptos"/>
              </a:rPr>
              <a:t>Data + Integrations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4882896"/>
            <a:ext cx="256032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200" b="1" i="0">
                <a:solidFill>
                  <a:srgbClr val="0D746F"/>
                </a:solidFill>
                <a:latin typeface="Aptos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1144" y="4882896"/>
            <a:ext cx="256032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200" b="1" i="0">
                <a:solidFill>
                  <a:srgbClr val="0D746F"/>
                </a:solidFill>
                <a:latin typeface="Aptos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7104" y="4882896"/>
            <a:ext cx="256032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200" b="1" i="0">
                <a:solidFill>
                  <a:srgbClr val="0D746F"/>
                </a:solidFill>
                <a:latin typeface="Aptos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13064" y="4882896"/>
            <a:ext cx="256032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200" b="1" i="0">
                <a:solidFill>
                  <a:srgbClr val="0D746F"/>
                </a:solidFill>
                <a:latin typeface="Aptos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789920" y="502920"/>
            <a:ext cx="868680" cy="384048"/>
          </a:xfrm>
          <a:prstGeom prst="roundRect">
            <a:avLst/>
          </a:prstGeom>
          <a:solidFill>
            <a:srgbClr val="5EEAD4"/>
          </a:solidFill>
          <a:ln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20" y="530352"/>
            <a:ext cx="8686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1874519" cy="457200"/>
          </a:xfrm>
          <a:prstGeom prst="roundRect">
            <a:avLst/>
          </a:prstGeom>
          <a:solidFill>
            <a:srgbClr val="ECFEFF"/>
          </a:solidFill>
          <a:ln>
            <a:solidFill>
              <a:srgbClr val="A5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1554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0D746F"/>
                </a:solidFill>
                <a:latin typeface="Aptos"/>
              </a:rPr>
              <a:t>TEAM +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48640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Aptos"/>
              </a:rPr>
              <a:t>Built by a team thinking about product, not just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39496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Aptos"/>
              </a:rPr>
              <a:t>We built the workflow end-to-end: search, AI guidance, booking, history, cancellation, deployment, and the scale-up plan.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2240280"/>
            <a:ext cx="3520440" cy="27889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di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487168"/>
            <a:ext cx="3035808" cy="16642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" y="4315968"/>
            <a:ext cx="27432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 i="0">
                <a:solidFill>
                  <a:srgbClr val="0F172A"/>
                </a:solidFill>
                <a:latin typeface="Aptos"/>
              </a:rPr>
              <a:t>Aditi Prasad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608576"/>
            <a:ext cx="2743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0" i="0">
                <a:solidFill>
                  <a:srgbClr val="475569"/>
                </a:solidFill>
                <a:latin typeface="Aptos"/>
              </a:rPr>
              <a:t>SDE &amp; Product Lead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2240280"/>
            <a:ext cx="3520440" cy="27889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yan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16" y="2487168"/>
            <a:ext cx="3035808" cy="16642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00016" y="4315968"/>
            <a:ext cx="27432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 i="0">
                <a:solidFill>
                  <a:srgbClr val="0F172A"/>
                </a:solidFill>
                <a:latin typeface="Aptos"/>
              </a:rPr>
              <a:t>Mayank Prasad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4608576"/>
            <a:ext cx="2743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0" i="0">
                <a:solidFill>
                  <a:srgbClr val="475569"/>
                </a:solidFill>
                <a:latin typeface="Aptos"/>
              </a:rPr>
              <a:t>SDE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4736" y="2240280"/>
            <a:ext cx="3520440" cy="27889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eepnara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2487168"/>
            <a:ext cx="3035808" cy="16642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12480" y="4315968"/>
            <a:ext cx="27432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 i="0">
                <a:solidFill>
                  <a:srgbClr val="0F172A"/>
                </a:solidFill>
                <a:latin typeface="Aptos"/>
              </a:rPr>
              <a:t>Deepnarayan Lohra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608576"/>
            <a:ext cx="2743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0" i="0">
                <a:solidFill>
                  <a:srgbClr val="475569"/>
                </a:solidFill>
                <a:latin typeface="Aptos"/>
              </a:rPr>
              <a:t>SDE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5440680"/>
            <a:ext cx="10972800" cy="68580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50992"/>
            <a:ext cx="102412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SurgiFind makes surgery discovery transparent and patient-first. That is the product, and that is the pitch.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89920" y="502920"/>
            <a:ext cx="868680" cy="384048"/>
          </a:xfrm>
          <a:prstGeom prst="roundRect">
            <a:avLst/>
          </a:prstGeom>
          <a:solidFill>
            <a:srgbClr val="05ABA5"/>
          </a:solidFill>
          <a:ln>
            <a:solidFill>
              <a:srgbClr val="05A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0" y="530352"/>
            <a:ext cx="8686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